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C5A880"/>
                </a:solidFill>
                <a:latin typeface="Calibri"/>
              </a:defRPr>
            </a:pPr>
            <a:r>
              <a:t>BÁO CÁO CHIẾN LƯỢC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BỐI CẢNH KINH TẾ - CHÍNH TRỊ TOÀN CẦU 2026</a:t>
            </a:r>
          </a:p>
          <a:p>
            <a:pPr>
              <a:defRPr sz="1800">
                <a:solidFill>
                  <a:srgbClr val="C8C8C8"/>
                </a:solidFill>
                <a:latin typeface="Calibri"/>
              </a:defRPr>
            </a:pPr>
            <a:r>
              <a:t>Đánh giá Tác động vĩ mô &amp; Khuyến nghị Hành động cho Doanh nghiệp Việt Nam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5A880"/>
                </a:solidFill>
                <a:latin typeface="Calibri"/>
              </a:defRPr>
            </a:pPr>
            <a:r>
              <a:t>Thực hiện bởi: Nhóm chuyên gia Antigravity</a:t>
            </a:r>
            <a:br/>
            <a:r>
              <a:t>Ngày báo cáo: 29/05/2026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38358"/>
                </a:solidFill>
                <a:latin typeface="Calibri"/>
              </a:defRPr>
            </a:pPr>
            <a:r>
              <a:t>PHÂN TÍCH VĨ MÔ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Calibri"/>
              </a:defRPr>
            </a:pPr>
            <a:r>
              <a:t>TÓM TẮT ĐIỀU HÀNH: BỨC TRANH TOÀN CẦU NĂM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27432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94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1. Thuế quan Mỹ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Mỹ áp thuế bảo hộ đồng đều 10% toàn cầu.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Lạm phát Mỹ neo cao 3,8% do chi phí đẩy.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Fed giữ lãi suất cao 3,5%-3,75% trì hoãn giảm.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194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2. Bảo hộ Xanh EU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CBAM bước vào giai đoạn tài chính bắt buộc 1/1/2026.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Hạn chót thực thi EUDR về phá rừng (30/12/2026).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Áp 100% thuế khí thải hàng hải EU 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2194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3. FDI &amp; Chuỗi SEA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FDI đổ dồn vào ASEAN đạt kỷ lục &gt;200 tỷ USD/năm.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Malaysia đột phá bán dẫn, Thái Lan thắt chặt EV 3.5.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DEFA số hóa và ASW giảm 60% thông quan.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45920"/>
            <a:ext cx="2834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468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4. Logistics Trung Đông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Xung đột Mỹ-Iran phong tỏa eo biển Hormuz.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Đi vòng qua Mũi Hảo Vọng là tiêu chuẩn bình thường.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Cước biển tăng 2-3 lần, dầu thô vượt $120/thùng.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38358"/>
                </a:solidFill>
                <a:latin typeface="Calibri"/>
              </a:defRPr>
            </a:pPr>
            <a:r>
              <a:t>ĐÁNH GIÁ CHI TIẾT KHU VỰC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Calibri"/>
              </a:defRPr>
            </a:pPr>
            <a:r>
              <a:t>KHU VỰC MỸ: THUẾ QUAN BẢO HỘ &amp; CƠ HỘI BÁN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27432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011680" cy="548640"/>
          </a:xfrm>
          <a:prstGeom prst="round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TÁC ĐỘNG: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Thách thức &amp; Rủi ro ngắn hạn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Áp thuế quan đồng đều 10% theo Mục 122 Đạo luật Thương mại.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Đe dọa trực tiếp biên lợi nhuận của dệt may, da giày xuất khẩu.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Siết chặt UFLPA chống lao động cưỡng bức, nguy cơ áp thuế phạt chuyển tải 40% nếu lẩn tránh nguồn gốc.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Sức mua người tiêu dùng Mỹ suy yếu do lãi suất Fed cao 3,5%-3,75%.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Cơ hội &amp; Đòn bẩy chiến lược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Căng thẳng Mỹ - Trung thúc đẩy làn sóng FDI dịch chuyển công nghệ bán dẫn và điện tử thế hệ mới sang Việt Nam.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Luật Công nghiệp Công nghệ số Việt Nam (1/1/2026) ưu đãi thuế kỷ lục 5% trong suốt 37 năm.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Việt Nam bùng nổ thu hút siêu dự án bán dẫn (Samsung 4 tỷ USD ở Thái Nguyên, Viettel bán dẫn tự chủ).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38358"/>
                </a:solidFill>
                <a:latin typeface="Calibri"/>
              </a:defRPr>
            </a:pPr>
            <a:r>
              <a:t>ĐÁNH GIÁ CHI TIẾT KHU VỰC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Calibri"/>
              </a:defRPr>
            </a:pPr>
            <a:r>
              <a:t>KHU VỰC EU: TIÊU CHUẨN XANH PHÁP LÝ BẮT BUỘC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27432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011680" cy="548640"/>
          </a:xfrm>
          <a:prstGeom prst="round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TÁC ĐỘNG: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Rủi ro tuân thủ &amp; Rào cản kỹ thuật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CBAM Definitive Phase có hiệu lực hoàn toàn từ 1/1/2026.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Hạn chót thực thi EUDR bắt buộc vào 30/12/2026 đối với nông sản, rủi ro đứt gãy xuất khẩu nếu thiếu định vị GPS.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Thẻ vàng IUU thủy sản chưa được gỡ sau đợt kiểm tra thứ 5 (3/2026) gây chậm trễ hải quan và tăng chi phí.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Cấm tiêu hủy hàng dệt may chưa bán (từ 19/7/2026), áp dụng ESPR và hộ chiếu số DPP.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Cơ hội &amp; Lợi thế đi đầu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Nâng cấp quan hệ Đối tác Chiến lược Toàn diện VN-EU đầu năm 2026, thu hút FDI xanh dồi dào.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Lợi thế vượt trội từ thuế suất 0% của EVFTA (năm thứ 6) so với các đối thủ ASEAN.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Gói cải cách Omnibus I lùi CSDDD/CSRD đến 2028-2029 và nới lỏng ngưỡng áp dụng, giúp các SME Việt Nam dễ thở hơn.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38358"/>
                </a:solidFill>
                <a:latin typeface="Calibri"/>
              </a:defRPr>
            </a:pPr>
            <a:r>
              <a:t>ĐÁNH GIÁ CHI TIẾT KHU VỰC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Calibri"/>
              </a:defRPr>
            </a:pPr>
            <a:r>
              <a:t>KHU VỰC TRUNG QUỐC: ĐỊNH HÌNH LẠI CHUỖI CUNG ỨNG THƯỢNG NGUỒN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27432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011680" cy="54864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192F"/>
                </a:solidFill>
                <a:latin typeface="Calibri"/>
              </a:defRPr>
            </a:pPr>
            <a:r>
              <a:t>TÁC ĐỘNG: TRUNG BÌNH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Thách thức &amp; Cạnh tranh gay gắt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Trung Quốc xả hàng tồn kho giá rẻ qua các sàn TMĐT (Temu, Shein) gây sức ép khốc liệt lên doanh nghiệp nội địa.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GACC siết chặt tiêu chuẩn chất lượng (SPS) đối với xuất khẩu nông sản tiểu ngạch của Việt Nam.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Đồng RMB mạnh làm tăng chi phí nhập khẩu nguyên vật liệu đầu vào của doanh nghiệp Việt.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Cạnh tranh thu hút FDI bán dẫn với các gói hỗ trợ khủng của Bắc Kinh.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Cơ hội hợp tác vĩ mô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Tuyến đường sắt liên vận khổ tiêu chuẩn (1.435mm) Lào Cai - Hà Nội - Hải Phòng vận hành giúp giảm 30%-40% chi phí logistics.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Tiếp cận nguồn nguyên liệu xanh, đạt chuẩn công nghệ tiên tiến của Trung Quốc để xuất khẩu đi EU/Mỹ.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Cơ hội thu hút các dự án pin công nghệ cao khi Bắc Kinh giảm hoàn thuế xuất khẩu pin xuống 6% từ 4/2026.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38358"/>
                </a:solidFill>
                <a:latin typeface="Calibri"/>
              </a:defRPr>
            </a:pPr>
            <a:r>
              <a:t>ĐÁNH GIÁ CHI TIẾT KHU VỰC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Calibri"/>
              </a:defRPr>
            </a:pPr>
            <a:r>
              <a:t>ĐÔNG NAM Á: CUỘC ĐUA FDI KHỐC LIỆT &amp; LIÊN KẾT SỐ NỘI KHỐI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27432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011680" cy="548640"/>
          </a:xfrm>
          <a:prstGeom prst="round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TÁC ĐỘNG: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Cạnh tranh bứt phá của đối thủ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Malaysia vượt trội trong thu hút FDI bán dẫn chất lượng cao nhờ Chiến lược Bán dẫn Quốc gia (NSS): Gói R&amp;D 92 triệu RM đóng gói tiên tiến chiplet, quỹ 550 triệu RM phát triển hệ sinh thái và quỹ tín dụng ưu đãi 500 triệu RM.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Thái Lan thắt chặt chính sách EV 3.5 yêu cầu tỷ lệ lắp ráp nội địa 1:2 năm 2026, ưu đãi tiêu thụ đặc biệt BEV chỉ 2%.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Cạnh tranh lao động giá rẻ từ Campuchia, Myanmar.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Động lực liên kết vùng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Hiệp định Khung Kinh tế Số ASEAN (DEFA) đặt mục tiêu đưa kinh tế số đạt 2.000 tỷ USD vào năm 2030.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Cơ chế một cửa ASEAN (ASW) tích hợp AI/Blockchain rút ngắn 60% thời gian thông quan nội khối, giúp hàng nông sản tươi sống của Việt Nam xuất sang Singapore/Malaysia thuận tiện.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Cơ hội liên kết chuỗi đóng gói nâng cấp với Malaysia và R&amp;D với Singapore.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38358"/>
                </a:solidFill>
                <a:latin typeface="Calibri"/>
              </a:defRPr>
            </a:pPr>
            <a:r>
              <a:t>ĐÁNH GIÁ CHI TIẾT KHU VỰC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Calibri"/>
              </a:defRPr>
            </a:pPr>
            <a:r>
              <a:t>TRUNG ĐÔNG: KHỦNG HOẢNG LOGISTICS &amp; KHUNG Halal VÀNG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27432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011680" cy="548640"/>
          </a:xfrm>
          <a:prstGeom prst="round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TÁC ĐỘNG: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Cú sốc Logistics đường biển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Xung đột leo thang Mỹ - Iran, phong tỏa eo biển Hormuz khiến vận tải vòng qua Mũi Hảo Vọng kéo dài thêm 10-20 ngày hải trình.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Cước vận tải biển tăng vọt 2-3 lần do phụ phí nhiên liệu và bảo hiểm tăng vọt, thiếu vỏ container rỗng tại Việt Nam.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Giá dầu Brent vượt $120/thùng gây áp lực lạm phát chi phí đẩy toàn cầu.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Thời gian giao hàng kéo dài làm giảm biên lợi nhuận điện tử/nông sản.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Cửa ngõ vàng Trung Đông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Hiệp định CEPA Việt Nam - UAE (2/2026) chính thức có hiệu lực, UAE xóa bỏ đến 99% dòng thuế cho hàng hóa Việt Nam.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Nghị định 127/2026/NĐ-CP (4/2026) định hình khung pháp lý hoàn chỉnh cho Halal Việt Nam theo hướng 'Halal Xanh'.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Khai phá thị trường tiêu thụ Hồi giáo GCC cực kỳ màu mỡ thông qua UAE.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Đẩy mạnh tuyến logistics đường bộ - hàng không Sea-Air qua Dubai.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38358"/>
                </a:solidFill>
                <a:latin typeface="Calibri"/>
              </a:defRPr>
            </a:pPr>
            <a:r>
              <a:t>TỔNG HỢP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Calibri"/>
              </a:defRPr>
            </a:pPr>
            <a:r>
              <a:t>SO SÁNH BỐI CẢNH 5 KHU VỰC ĐỊA CHÍNH TRỊ NĂM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27432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441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926080"/>
                <a:gridCol w="1645920"/>
                <a:gridCol w="195041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Khu vực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Xu hướng &amp; Rủi ro chính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Cơ hội lớn nhất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Tác động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Lưu ý cho DN Việt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Mỹ (USA)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Thuế quan 10%, UFLPA siết chặt, Fed lãi suất 3,5%-3,75%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Dịch chuyển chuỗi bán dẫn công nghệ cao, Luật CN Công nghệ số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Tránh thuế phạt 40% xuất xứ, chuyển từ CMT sang ODM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EU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CBAM (1/1/26), EUDR (30/12/26), cước carbon hàng hải tăng vọt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EVFTA 0% thuế quan, nới lỏng CSRD/CSDDD sang 2028-2029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Định vị vùng trồng GPS cho nông sản, lấy chứng chỉ xanh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Trung Quốc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Hàng giá rẻ qua TMĐT nội địa, SPS nông sản tiểu ngạch siết chặt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Nguyên liệu xanh đầu vào, vận tải đường sắt liên vận khổ 1.435mm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38358"/>
                          </a:solidFill>
                          <a:latin typeface="Calibri"/>
                        </a:defRPr>
                      </a:pPr>
                      <a:r>
                        <a:t>TRUNG BÌNH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Liên doanh kho thông minh AI, chuyển đổi xuất khẩu chính ngạch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Đông Nam Á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Malaysia NSS đóng gói chip, Thái Lan EV 3.5, đua FDI gắt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Hiệp định kinh tế số DEFA, một cửa ASW giảm 60% thông quan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Thiết lập liên kết đóng gói chip với Malaysia, số hóa ASW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Trung Đông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Xung đột Mỹ-Iran, Hormuz, đi vòng Hảo Vọng cước biển gấp 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CEPA VN-UAE xóa 99% thuế, NĐ 127/2026/NĐ-CP khung Halal Việt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3545"/>
                          </a:solidFill>
                          <a:latin typeface="Calibri"/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Chuyển thương mại từ CIF sang FOB để đẩy chi phí cước biển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38358"/>
                </a:solidFill>
                <a:latin typeface="Calibri"/>
              </a:defRPr>
            </a:pPr>
            <a:r>
              <a:t>CHIẾN LƯỢC THÍCH ỨNG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Calibri"/>
              </a:defRPr>
            </a:pPr>
            <a:r>
              <a:t>KHUYẾN NGHỊ HÀNH ĐỘNG CHIẾN LƯỢC THEO NGÀNH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27432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1. Nhóm ngành Xuất khẩu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**Minh bạch chuỗi cung ứng:** Rà soát nguyên liệu đầu vào phi Trung Quốc để tránh bộ lọc UFLPA Mỹ.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**Số hóa GPS vùng trồng:** Thực hiện định vị tọa độ GPS vùng trồng đáp ứng chuẩn EUDR trước 30/12/2026.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**Khai thác thị trường Halal:** Tận dụng CEPA Việt Nam - UAE và tiêu chuẩn Halal Xanh (Nghị định 127/2026/NĐ-CP).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2. Điện tử &amp; Bán dẫn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**Tối ưu hóa Luật mới:** Đăng ký ưu đãi thuế thu nhập doanh nghiệp 5% trong 37 năm của Luật CN Công nghệ số.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**Xanh hóa nhà máy:** Đầu tư điện mặt trời áp mái, giảm phát thải Scope 1 &amp; 2 đáp ứng chuẩn chuỗi cung ứng xanh toàn cầu.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**Liên kết nhân lực:** Hợp tác trường đại học giải quyết bài toán thiếu hụt nhân sự chất lượng cao và ngăn chảy máu chất xám.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192F"/>
                </a:solidFill>
                <a:latin typeface="Calibri"/>
              </a:defRPr>
            </a:pPr>
            <a:r>
              <a:t>3. Logistics &amp; Chuỗi cung ứng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**Chuyển đổi điều khoản thương mại:** Đàm phán chuyển hợp đồng CIF sang FOB để tránh phụ phí cước biển.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**Đa dạng hóa lộ trình:** Kết hợp Sea-Air trung chuyển qua Dubai và tận dụng đường sắt khổ 1.435mm liên vận Á-Âu.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**Số hóa hạ tầng số:** Liên doanh kho thông minh AI, ứng dụng Blockchain tối ưu hóa xoay vòng container.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200" b="1">
                <a:solidFill>
                  <a:srgbClr val="C5A880"/>
                </a:solidFill>
                <a:latin typeface="Calibri"/>
              </a:defRPr>
            </a:pPr>
            <a:r>
              <a:t>KẾT LUẬN CHIẾN LƯỢC</a:t>
            </a:r>
          </a:p>
          <a:p>
            <a:pPr algn="ctr">
              <a:spcAft>
                <a:spcPts val="2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"Khủng hoảng logistics là phép thử cho năng lực thích ứng nhanh,</a:t>
            </a:r>
            <a:br/>
            <a:r>
              <a:t>và rào cản xanh chính là động lực để bứt phá chất lượng."</a:t>
            </a:r>
          </a:p>
          <a:p>
            <a:pPr algn="ctr">
              <a:defRPr sz="1600">
                <a:solidFill>
                  <a:srgbClr val="C8C8C8"/>
                </a:solidFill>
                <a:latin typeface="Calibri"/>
              </a:defRPr>
            </a:pPr>
            <a:r>
              <a:t>Chủ động Số hóa - Nâng cấp Xanh - Đa dạng hóa Chuỗi cung ứng là chìa khóa thành công.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